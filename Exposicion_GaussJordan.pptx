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663440" y="365760"/>
            <a:ext cx="54864" cy="438912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GAUSS-JORDAN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MASTER PRO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65760" y="27432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AAC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Resolucion de sistemas de ecuaciones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AAAC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lineales 3x3 paso a paso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54864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Universidad Francisco de Paula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Santander Ocana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Ingenieria de Sistemas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37760" y="1874520"/>
            <a:ext cx="365760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011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Estudiante: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Maicol Robles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Codigo: 192125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063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Docente: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383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Ing. ______________________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4480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Ocana,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¿Que es el Metodo de Gauss-Jordan?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96012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 un algoritmo del algebra lineal que resuelve sistemas de ecuaciones lineales transformando la matriz aumentada del sistema en su forma escalonada reducida por filas (RREF).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737360"/>
            <a:ext cx="2743200" cy="2651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[A|b]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2331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Matriz Aumentada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7889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 representa el sistema ax+by+cz=d como una matriz de 3 filas y 4 columnas con los coeficientes y terminos independientes.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743200" cy="2651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 &lt;-&gt; Rj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37560" y="2331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Operaciones Elementales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7889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Intercambio de filas, multiplicar una fila por escalar no nulo, y sumar el multiplo de una fila a otra.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1737360"/>
            <a:ext cx="2743200" cy="2651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RREF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2331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 Final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27889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la submatriz izquierda se convierte en la identidad, los valores de x, y, z quedan en la ultima columna.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Tipos de Solucion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320040" cy="1097280"/>
          </a:xfrm>
          <a:prstGeom prst="rect">
            <a:avLst/>
          </a:prstGeom>
          <a:solidFill>
            <a:srgbClr val="2C7A4B"/>
          </a:solidFill>
          <a:ln w="12700">
            <a:solidFill>
              <a:srgbClr val="2C7A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005840"/>
            <a:ext cx="82753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078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SOLUCION UNICA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417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Condicion: La submatriz A se convierte en la identidad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0078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Resultado: x, y, z determinados. Los tres planos se cruzan en un punto.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423160"/>
            <a:ext cx="320040" cy="109728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423160"/>
            <a:ext cx="82753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49631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INFINITAS SOLUCIONES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2834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Condicion: Aparece una fila de ceros completa [0  0  0 | 0]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31520" y="311810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Resultado: Sistema indeterminado. Los planos se intersectan en una recta o coinciden.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3840480"/>
            <a:ext cx="320040" cy="109728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840480"/>
            <a:ext cx="82753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9136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1C1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 SOLUCION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Condicion: Aparece fila [0  0  0 | c] con c diferente de 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31520" y="4535424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Resultado: Sistema inconsistente. Hay una contradiccion matematica.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Algoritmo de Gauss-Jordan con Pivoteo Parcial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54864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960120"/>
            <a:ext cx="3657600" cy="1508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051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Pivoteo Parcial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463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la columna h, buscar la fila con el mayor valor absoluto desde la fila h hasta la 3. Intercambiar esa fila con la fila h para mejorar la estabilidad numerica.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54864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0" y="960120"/>
            <a:ext cx="3657600" cy="1508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1051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Normalizacion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1463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Dividir todos los elementos de la fila h entre el valor del pivote para que el elemento en la posicion [h][h] quede igual a 1.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697480"/>
            <a:ext cx="54864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22960" y="2697480"/>
            <a:ext cx="3657600" cy="1508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788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Eliminacion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32004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cada fila i diferente de h, restar el multiplo adecuado de la fila h para hacer cero el elemento en la columna h.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697480"/>
            <a:ext cx="548640" cy="1508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303520" y="2697480"/>
            <a:ext cx="3657600" cy="15087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94960" y="2788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Analisis del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94960" y="32004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Revisar si hay contradiccion (sin solucion), filas de ceros (infinitas soluciones), o la identidad (solucion unica x, y, z).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Pseudocodigo del Algoritmo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352044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241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24358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LEER matriz_aumentada[3][4]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4630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 h = 0 HASTA 2: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68249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max_fila = fila con mayor |valor| en columna 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90195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 pivote = 0: CONTINUAR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12140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 max_fila != h: INTERCAMBIAR filas h y max_fila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34086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Rh = Rh / pivote              // normalizar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5603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PARA i = 0 HASTA 2: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77977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SI i != h: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29992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7A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 = Ri - factor * Rh     // eliminar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21868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ANALIZAR resultado: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438144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 [0,0,0|c!=0] -&gt; Sin solucion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6576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 [0,0,0|0]    -&gt; Infinitas soluciones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77056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Identidad          -&gt; x=m[0][3], y=m[1][3], z=m[2][3]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9651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Diagrama de Flujo del Algoritmo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2011680" cy="411480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INICIO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417320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201168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002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Leer matriz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aumantada [3x4]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2167128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331720"/>
            <a:ext cx="201168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3317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Buscar max |val|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columna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(pivoteo parcial)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71600" y="2898648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200400"/>
            <a:ext cx="2011680" cy="502920"/>
          </a:xfrm>
          <a:prstGeom prst="rect">
            <a:avLst/>
          </a:prstGeom>
          <a:solidFill>
            <a:srgbClr val="E8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00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¿pivote = 0?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371600" y="3703320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931920"/>
            <a:ext cx="201168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319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Normalizar fila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Rh = Rh / pivote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0" y="1005840"/>
            <a:ext cx="201168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005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Eliminar col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filas i != 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 = Ri - f*Rh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498080" y="1645920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92240" y="1828800"/>
            <a:ext cx="2011680" cy="502920"/>
          </a:xfrm>
          <a:prstGeom prst="rect">
            <a:avLst/>
          </a:prstGeom>
          <a:solidFill>
            <a:srgbClr val="E8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¿h &lt; 2?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498080" y="2331720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2560320"/>
            <a:ext cx="201168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560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Analizar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498080" y="3200400"/>
            <a:ext cx="9144" cy="13716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0" y="3291840"/>
            <a:ext cx="2011680" cy="411480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68880" y="32918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-&gt; h+1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371600" y="3611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95360" y="199339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-&gt; h+1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06040" y="1005840"/>
            <a:ext cx="3566160" cy="3429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97480" y="10515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Flujo del Algoritmo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743200" y="14173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bucle principal recorre las 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43200" y="16733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columnas (h = 0, 1, 2).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43200" y="1929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743200" y="21854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cada columna: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43200" y="2441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1. Pivoteo parcial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743200" y="2697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2. Normalizacion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743200" y="29535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3. Eliminacion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43200" y="32095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74320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 final se analiza si la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743200" y="37216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solucion es unica, sin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743200" y="3977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solucion o infinitas.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Estructura del Programa en Python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005840"/>
            <a:ext cx="164592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3898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Punto de entrada. Inicia la aplicacion Qt.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96596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1965960"/>
            <a:ext cx="164592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116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logic/solver.py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3500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Motor Gauss-Jordan. Implementa el algoritmo con pivoteo parcial usando fractions.Fraction.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926080"/>
            <a:ext cx="164592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logic/parser.py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3101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Interpreta ecuaciones en texto: '2x+y-z=8', '(1/2)x-y=3', '0.5x+z=1'.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88620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886200"/>
            <a:ext cx="164592" cy="8229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931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logic/calculator.py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42702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Convierte texto a Fraction. Evaluador seguro de expresiones.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1005840"/>
            <a:ext cx="164592" cy="8229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1051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ui/main_window.py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83480" y="13898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Ventana principal. Orquesta la interfaz, botones de ejemplo y validacion.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96596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1965960"/>
            <a:ext cx="164592" cy="8229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0116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ui/widgets/matrix_grid.py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23500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Cuadricula 3x4 para ingresar la matriz aumentada [A|b].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2926080"/>
            <a:ext cx="164592" cy="8229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ui/widgets/step_viewer.py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83480" y="33101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Muestra los pasos del algoritmo con codigo de colores.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54880" y="3886200"/>
            <a:ext cx="42519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3886200"/>
            <a:ext cx="164592" cy="82296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83480" y="3931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ui/styles.py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83480" y="42702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Estilos CSS de la interfaz (tema oscuro).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Interfaz del Programa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109728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Ingreso de Ecuaciones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campos de texto donde se escribe cada ecuacion. Acepta decimales, fracciones y coeficientes implicitos.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737360"/>
            <a:ext cx="109728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373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Ejemplos Rapidos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039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botones que cargan sistemas predefinidos con un clic: solucion unica, sin solucion e infinitas.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514600"/>
            <a:ext cx="109728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514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Matriz Aumentada [A|b]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28163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Cuadricula 3x4 editable. La columna dorada es el termino independiente.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291840"/>
            <a:ext cx="109728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2918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Procedimiento Paso a Paso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5935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operacion elemental se muestra en una tarjeta con colores: verde=pivote, rojo=modificada.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069080"/>
            <a:ext cx="109728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69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 Final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Banner inferior que cambia de color: verde (solucion), rojo (sin sol), amarillo (infinitas).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960120"/>
            <a:ext cx="4206240" cy="36576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005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Gauss-Jordan Master Pro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1353312"/>
            <a:ext cx="1828800" cy="91440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1371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9DC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INGRESA 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89DC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ECUACIONES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800600" y="1755648"/>
            <a:ext cx="1737360" cy="137160"/>
          </a:xfrm>
          <a:prstGeom prst="rect">
            <a:avLst/>
          </a:prstGeom>
          <a:solidFill>
            <a:srgbClr val="313244"/>
          </a:solidFill>
          <a:ln w="12700">
            <a:solidFill>
              <a:srgbClr val="4547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0600" y="1920240"/>
            <a:ext cx="1737360" cy="137160"/>
          </a:xfrm>
          <a:prstGeom prst="rect">
            <a:avLst/>
          </a:prstGeom>
          <a:solidFill>
            <a:srgbClr val="313244"/>
          </a:solidFill>
          <a:ln w="12700">
            <a:solidFill>
              <a:srgbClr val="4547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2084832"/>
            <a:ext cx="1737360" cy="137160"/>
          </a:xfrm>
          <a:prstGeom prst="rect">
            <a:avLst/>
          </a:prstGeom>
          <a:solidFill>
            <a:srgbClr val="313244"/>
          </a:solidFill>
          <a:ln w="12700">
            <a:solidFill>
              <a:srgbClr val="4547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1353312"/>
            <a:ext cx="2103120" cy="2377440"/>
          </a:xfrm>
          <a:prstGeom prst="rect">
            <a:avLst/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389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PROCEDIMIENTO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A PASO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720840" y="1810512"/>
            <a:ext cx="2011680" cy="347472"/>
          </a:xfrm>
          <a:prstGeom prst="rect">
            <a:avLst/>
          </a:prstGeom>
          <a:solidFill>
            <a:srgbClr val="2E3B3E"/>
          </a:solidFill>
          <a:ln w="12700">
            <a:solidFill>
              <a:srgbClr val="3132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182880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1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720840" y="2231136"/>
            <a:ext cx="2011680" cy="347472"/>
          </a:xfrm>
          <a:prstGeom prst="rect">
            <a:avLst/>
          </a:prstGeom>
          <a:solidFill>
            <a:srgbClr val="3E2E2E"/>
          </a:solidFill>
          <a:ln w="12700">
            <a:solidFill>
              <a:srgbClr val="3132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2249424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2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20840" y="2651760"/>
            <a:ext cx="2011680" cy="347472"/>
          </a:xfrm>
          <a:prstGeom prst="rect">
            <a:avLst/>
          </a:prstGeom>
          <a:solidFill>
            <a:srgbClr val="2E3B3E"/>
          </a:solidFill>
          <a:ln w="12700">
            <a:solidFill>
              <a:srgbClr val="3132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267004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720840" y="3072384"/>
            <a:ext cx="2011680" cy="347472"/>
          </a:xfrm>
          <a:prstGeom prst="rect">
            <a:avLst/>
          </a:prstGeom>
          <a:solidFill>
            <a:srgbClr val="3E2E2E"/>
          </a:solidFill>
          <a:ln w="12700">
            <a:solidFill>
              <a:srgbClr val="3132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66560" y="309067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B4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4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754880" y="3246120"/>
            <a:ext cx="4023360" cy="411480"/>
          </a:xfrm>
          <a:prstGeom prst="rect">
            <a:avLst/>
          </a:prstGeom>
          <a:solidFill>
            <a:srgbClr val="1A2A1A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32461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E3A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SOLUCION UNICA:  x = 2   y = 3   z = -1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703320"/>
            <a:ext cx="4206240" cy="914400"/>
          </a:xfrm>
          <a:prstGeom prst="rect">
            <a:avLst/>
          </a:prstGeom>
          <a:solidFill>
            <a:srgbClr val="12121F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09160" y="3767328"/>
            <a:ext cx="960120" cy="320040"/>
          </a:xfrm>
          <a:prstGeom prst="rect">
            <a:avLst/>
          </a:prstGeom>
          <a:solidFill>
            <a:srgbClr val="1A2A1A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09160" y="3767328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Ejemplo 1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742432" y="3767328"/>
            <a:ext cx="960120" cy="320040"/>
          </a:xfrm>
          <a:prstGeom prst="rect">
            <a:avLst/>
          </a:prstGeom>
          <a:solidFill>
            <a:srgbClr val="1A2A1A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42432" y="3767328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Ejemplo 2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775704" y="3767328"/>
            <a:ext cx="960120" cy="320040"/>
          </a:xfrm>
          <a:prstGeom prst="rect">
            <a:avLst/>
          </a:prstGeom>
          <a:solidFill>
            <a:srgbClr val="2A1A1A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75704" y="3767328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 Sol.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808976" y="3767328"/>
            <a:ext cx="960120" cy="320040"/>
          </a:xfrm>
          <a:prstGeom prst="rect">
            <a:avLst/>
          </a:prstGeom>
          <a:solidFill>
            <a:srgbClr val="2A2A10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08976" y="3767328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Infinitas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Fragmento de Codigo Clave — solver.py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352044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0584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h in range(3):                         # h = columna pivote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243584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max_row = max(range(h, 3),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key=lambda i: abs(matrix[i][h]))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719072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7A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matrix[max_row][h] == 0: continue   # columna singular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1956816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max_row != h: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219456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matrix[h], matrix[max_row] = matrix[max_row], matrix[h]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2432304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pivot = matrix[h][h]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670048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7A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matrix[h] = [x / pivot for x in matrix[h]]  # normalizar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907792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range(3):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145536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!= h: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3832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factor = matrix[i][h]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3621024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matrix[i] = [matrix[i][j] - factor*matrix[h][j]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3858768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7A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for j in range(4)]  # eliminar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096512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self._analyze_result()               # analizar tipo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Casos de Prueba y Resultados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274320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005840"/>
            <a:ext cx="2743200" cy="347472"/>
          </a:xfrm>
          <a:prstGeom prst="rect">
            <a:avLst/>
          </a:prstGeom>
          <a:solidFill>
            <a:srgbClr val="2C7A4B"/>
          </a:solidFill>
          <a:ln w="12700">
            <a:solidFill>
              <a:srgbClr val="2C7A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0058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Solucion Unica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2x+y-z=8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-3x-y+2z=-11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-2x+y+2z=-3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74520" y="1389888"/>
            <a:ext cx="1051560" cy="1188720"/>
          </a:xfrm>
          <a:prstGeom prst="rect">
            <a:avLst/>
          </a:prstGeom>
          <a:solidFill>
            <a:srgbClr val="FFFDE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645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7A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x=2, y=3, z=-1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1005840"/>
            <a:ext cx="274320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1005840"/>
            <a:ext cx="2743200" cy="347472"/>
          </a:xfrm>
          <a:prstGeom prst="rect">
            <a:avLst/>
          </a:prstGeom>
          <a:solidFill>
            <a:srgbClr val="2C7A4B"/>
          </a:solidFill>
          <a:ln w="12700">
            <a:solidFill>
              <a:srgbClr val="2C7A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73552" y="10058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Solucion Unica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1389888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x-2y+3z=9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-x+3y=-4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2x-5y+5z=17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0" y="1389888"/>
            <a:ext cx="1051560" cy="1188720"/>
          </a:xfrm>
          <a:prstGeom prst="rect">
            <a:avLst/>
          </a:prstGeom>
          <a:solidFill>
            <a:srgbClr val="FFFDE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645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7A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x=1, y=-1, z=2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005840"/>
            <a:ext cx="274320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1005840"/>
            <a:ext cx="2743200" cy="34747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0058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 Solucion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1389888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x+y+z=6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2x+2y+2z=14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3x+3y+3z=20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26680" y="1389888"/>
            <a:ext cx="1051560" cy="1188720"/>
          </a:xfrm>
          <a:prstGeom prst="rect">
            <a:avLst/>
          </a:prstGeom>
          <a:solidFill>
            <a:srgbClr val="FFFDE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1645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71C1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inconsistente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7360" y="2926080"/>
            <a:ext cx="274320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7360" y="2926080"/>
            <a:ext cx="2743200" cy="34747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0512" y="29260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Infinitas Soluciones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828800" y="3310128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x+2y+3z=6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2x+4y+6z=12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3x+6y+9z=18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3310128"/>
            <a:ext cx="1051560" cy="1188720"/>
          </a:xfrm>
          <a:prstGeom prst="rect">
            <a:avLst/>
          </a:prstGeom>
          <a:solidFill>
            <a:srgbClr val="FFFDE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0" y="356616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indeterminado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926080"/>
            <a:ext cx="274320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2926080"/>
            <a:ext cx="274320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36592" y="292608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Fracciones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3310128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(1/2)x+y-z=1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-3x-y+2z=-11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-2x+y+2z=-3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3310128"/>
            <a:ext cx="1051560" cy="1188720"/>
          </a:xfrm>
          <a:prstGeom prst="rect">
            <a:avLst/>
          </a:prstGeom>
          <a:solidFill>
            <a:srgbClr val="FFFDE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356616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Valores exactos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3657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Analisis Numerico  |  Gauss-Jordan Master Pro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384048" cy="384048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808" y="1005840"/>
            <a:ext cx="81381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Programar el metodo ayudo a entender mejor como funciona por dentro, porque hay que pensar en cada caso posible.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1810512"/>
            <a:ext cx="384048" cy="384048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9808" y="1792224"/>
            <a:ext cx="81381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179222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Usar fracciones exactas en vez de decimales es clave: evita errores de redondeo y siempre da el resultado correcto.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2596896"/>
            <a:ext cx="384048" cy="384048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9808" y="2578608"/>
            <a:ext cx="81381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257860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Mostrar los pasos con colores es lo que mas ayuda a entender el algoritmo en accion.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3383280"/>
            <a:ext cx="384048" cy="384048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9808" y="3364992"/>
            <a:ext cx="81381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36499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parser quedo flexible: acepta (1/2)x, 0.5x, -x, 2*x sin que el usuario se preocupe por el formato.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74320" y="4169664"/>
            <a:ext cx="384048" cy="384048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" y="4151376"/>
            <a:ext cx="813816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4151376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proyecto cubrio todo el ciclo: entender el metodo, disenarlo, codificarlo y probarlo con casos reales.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Gauss-Jordan Master Pro</dc:title>
  <dc:subject>PptxGenJS Presentation</dc:subject>
  <dc:creator>PptxGenJS</dc:creator>
  <cp:lastModifiedBy>PptxGenJS</cp:lastModifiedBy>
  <cp:revision>1</cp:revision>
  <dcterms:created xsi:type="dcterms:W3CDTF">2026-04-07T22:16:27Z</dcterms:created>
  <dcterms:modified xsi:type="dcterms:W3CDTF">2026-04-07T22:16:27Z</dcterms:modified>
</cp:coreProperties>
</file>